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12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21488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12B47"/>
          </a:solidFill>
          <a:ln w="19050">
            <a:solidFill>
              <a:srgbClr val="35D0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D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 ·  LIFE IN A DIGITAL WORLD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Simple Tense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Adverbs of Frequency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our everyday digital habits — always, usually, often, sometimes, never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Preparatory Stage · Year One · First Term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Deck 1 of 1 — Unit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teaching material aligned to the unit topic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38528"/>
            <a:ext cx="548640" cy="548640"/>
          </a:xfrm>
          <a:prstGeom prst="ellipse">
            <a:avLst/>
          </a:prstGeom>
          <a:solidFill>
            <a:srgbClr val="35D0C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470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931920" y="1847088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present simple tense and know when we use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08960"/>
            <a:ext cx="548640" cy="548640"/>
          </a:xfrm>
          <a:prstGeom prst="ellipse">
            <a:avLst/>
          </a:prstGeom>
          <a:solidFill>
            <a:srgbClr val="35D0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31920" y="301752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positive, negative, and question sentences correctly.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79392"/>
            <a:ext cx="548640" cy="548640"/>
          </a:xfrm>
          <a:prstGeom prst="ellipse">
            <a:avLst/>
          </a:prstGeom>
          <a:solidFill>
            <a:srgbClr val="35D0C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79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18795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31920" y="4187952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adverbs of frequency correctly in a sentence.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49824"/>
            <a:ext cx="548640" cy="548640"/>
          </a:xfrm>
          <a:prstGeom prst="ellipse">
            <a:avLst/>
          </a:prstGeom>
          <a:solidFill>
            <a:srgbClr val="35D0C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49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535838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931920" y="5358384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and write about daily digital habits and routines.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Present Simple?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4297680"/>
          </a:xfrm>
          <a:prstGeom prst="roundRect">
            <a:avLst>
              <a:gd name="adj" fmla="val 2553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simple describes actions that happen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regularly, habitually, or as general facts.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for: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habits and routines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facts and general truths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actions (with technology, school, home)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434840"/>
            <a:ext cx="5943600" cy="1417320"/>
          </a:xfrm>
          <a:prstGeom prst="roundRect">
            <a:avLst>
              <a:gd name="adj" fmla="val 7742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"Tarek always checks his phone in the morning."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habit that repeats every day → present simple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737360"/>
            <a:ext cx="4297680" cy="4297680"/>
          </a:xfrm>
          <a:prstGeom prst="roundRect">
            <a:avLst>
              <a:gd name="adj" fmla="val 2553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0" y="237744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part of our daily routine — this is exactly the kind of repeated action the present simple describes: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messages, using a tablet, playing online games, searching the internet…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Sentence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214884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21488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(base / -s form)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0" y="2148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 / Rest of sentence)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  →  add -s / -es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Tarek checks his messages every morning.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teacher watches videos on the smartboard.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always searches for information online.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0760" y="356616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We / They  →  base 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416052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my laptop for homework.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often play online games together.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forget to charge their phones.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(Affirmative)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verb (+s/-es for he/she/it)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17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3017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30175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phone every morning.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3931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39319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tablet at school.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846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4846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0" y="48463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on the smartboard. (+ -es)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60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/ They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5760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57607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games on weekends.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We / They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do not (don't) + base verb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play games in class."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does not (doesn't) + base verb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880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doesn't forget her tablet."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She doesn't checks her phone. 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She doesn't check her phone.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verb never takes -s after doesn't — "doesn't" already carries the -s.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 +  I / you / we / they  +  verb ... 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use social media?"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answers: Yes, I do.  /  No, I don't.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5532120" cy="2377440"/>
          </a:xfrm>
          <a:prstGeom prst="roundRect">
            <a:avLst>
              <a:gd name="adj" fmla="val 4615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 +  he / she / it  +  verb ... 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your teacher use a smartboard?"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32461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answers: Yes, she does.  /  No, she doesn't.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technology do you use every day?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he play online games?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WORDS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 of Frequency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1664208" cy="201168"/>
          </a:xfrm>
          <a:prstGeom prst="roundRect">
            <a:avLst>
              <a:gd name="adj" fmla="val 22727"/>
            </a:avLst>
          </a:prstGeom>
          <a:solidFill>
            <a:srgbClr val="0B1E33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971800"/>
            <a:ext cx="1664208" cy="201168"/>
          </a:xfrm>
          <a:prstGeom prst="roundRect">
            <a:avLst>
              <a:gd name="adj" fmla="val 22727"/>
            </a:avLst>
          </a:prstGeom>
          <a:solidFill>
            <a:srgbClr val="8CE99A"/>
          </a:solidFill>
          <a:ln/>
        </p:spPr>
      </p:sp>
      <p:sp>
        <p:nvSpPr>
          <p:cNvPr id="9" name="Shape 7"/>
          <p:cNvSpPr/>
          <p:nvPr/>
        </p:nvSpPr>
        <p:spPr>
          <a:xfrm>
            <a:off x="2852928" y="1828800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9659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2928" y="24231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35808" y="2971800"/>
            <a:ext cx="1664208" cy="201168"/>
          </a:xfrm>
          <a:prstGeom prst="roundRect">
            <a:avLst>
              <a:gd name="adj" fmla="val 22727"/>
            </a:avLst>
          </a:prstGeom>
          <a:solidFill>
            <a:srgbClr val="0B1E33"/>
          </a:solidFill>
          <a:ln/>
        </p:spPr>
      </p:sp>
      <p:sp>
        <p:nvSpPr>
          <p:cNvPr id="13" name="Shape 11"/>
          <p:cNvSpPr/>
          <p:nvPr/>
        </p:nvSpPr>
        <p:spPr>
          <a:xfrm>
            <a:off x="3035808" y="2971800"/>
            <a:ext cx="1331366" cy="201168"/>
          </a:xfrm>
          <a:prstGeom prst="roundRect">
            <a:avLst>
              <a:gd name="adj" fmla="val 22727"/>
            </a:avLst>
          </a:prstGeom>
          <a:solidFill>
            <a:srgbClr val="35D0C9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1828800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9659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65776" y="24231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48656" y="2971800"/>
            <a:ext cx="1664208" cy="201168"/>
          </a:xfrm>
          <a:prstGeom prst="roundRect">
            <a:avLst>
              <a:gd name="adj" fmla="val 22727"/>
            </a:avLst>
          </a:prstGeom>
          <a:solidFill>
            <a:srgbClr val="0B1E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48656" y="2971800"/>
            <a:ext cx="998525" cy="201168"/>
          </a:xfrm>
          <a:prstGeom prst="roundRect">
            <a:avLst>
              <a:gd name="adj" fmla="val 22727"/>
            </a:avLst>
          </a:prstGeom>
          <a:solidFill>
            <a:srgbClr val="35D0C9"/>
          </a:solidFill>
          <a:ln/>
        </p:spPr>
      </p:sp>
      <p:sp>
        <p:nvSpPr>
          <p:cNvPr id="19" name="Shape 17"/>
          <p:cNvSpPr/>
          <p:nvPr/>
        </p:nvSpPr>
        <p:spPr>
          <a:xfrm>
            <a:off x="7278624" y="1828800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8624" y="19659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78624" y="24231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61504" y="2971800"/>
            <a:ext cx="1664208" cy="201168"/>
          </a:xfrm>
          <a:prstGeom prst="roundRect">
            <a:avLst>
              <a:gd name="adj" fmla="val 22727"/>
            </a:avLst>
          </a:prstGeom>
          <a:solidFill>
            <a:srgbClr val="0B1E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1504" y="2971800"/>
            <a:ext cx="499262" cy="201168"/>
          </a:xfrm>
          <a:prstGeom prst="roundRect">
            <a:avLst>
              <a:gd name="adj" fmla="val 22727"/>
            </a:avLst>
          </a:prstGeom>
          <a:solidFill>
            <a:srgbClr val="FFC168"/>
          </a:solidFill>
          <a:ln/>
        </p:spPr>
      </p:sp>
      <p:sp>
        <p:nvSpPr>
          <p:cNvPr id="24" name="Shape 22"/>
          <p:cNvSpPr/>
          <p:nvPr/>
        </p:nvSpPr>
        <p:spPr>
          <a:xfrm>
            <a:off x="9491472" y="1828800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196596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91472" y="24231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74352" y="2971800"/>
            <a:ext cx="1664208" cy="201168"/>
          </a:xfrm>
          <a:prstGeom prst="roundRect">
            <a:avLst>
              <a:gd name="adj" fmla="val 22727"/>
            </a:avLst>
          </a:prstGeom>
          <a:solidFill>
            <a:srgbClr val="0B1E33"/>
          </a:solidFill>
          <a:ln/>
        </p:spPr>
      </p:sp>
      <p:sp>
        <p:nvSpPr>
          <p:cNvPr id="28" name="Shape 26"/>
          <p:cNvSpPr/>
          <p:nvPr/>
        </p:nvSpPr>
        <p:spPr>
          <a:xfrm>
            <a:off x="9674352" y="2971800"/>
            <a:ext cx="66568" cy="201168"/>
          </a:xfrm>
          <a:prstGeom prst="roundRect">
            <a:avLst>
              <a:gd name="adj" fmla="val 68682"/>
            </a:avLst>
          </a:prstGeom>
          <a:solidFill>
            <a:srgbClr val="FF8080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931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rule:  before the main verb, but after the verb "to be".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297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always check my phone.      —      He is often online in the evening.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useful time expressions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528523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 ·  every morning  ·  once a week  ·  from time to time  ·  at breakfast  ·  before bed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Simple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743200" cy="640080"/>
          </a:xfrm>
          <a:prstGeom prst="rect">
            <a:avLst/>
          </a:prstGeom>
          <a:solidFill>
            <a:srgbClr val="0B1E33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920240"/>
            <a:ext cx="2743200" cy="640080"/>
          </a:xfrm>
          <a:prstGeom prst="rect">
            <a:avLst/>
          </a:prstGeom>
          <a:solidFill>
            <a:srgbClr val="112B47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920240"/>
            <a:ext cx="2743200" cy="640080"/>
          </a:xfrm>
          <a:prstGeom prst="rect">
            <a:avLst/>
          </a:prstGeom>
          <a:solidFill>
            <a:srgbClr val="112B47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778240" y="1920240"/>
            <a:ext cx="2834640" cy="640080"/>
          </a:xfrm>
          <a:prstGeom prst="rect">
            <a:avLst/>
          </a:prstGeom>
          <a:solidFill>
            <a:srgbClr val="112B47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920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2743200" cy="777240"/>
          </a:xfrm>
          <a:prstGeom prst="rect">
            <a:avLst/>
          </a:prstGeom>
          <a:solidFill>
            <a:srgbClr val="16324F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0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We / They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2560320"/>
            <a:ext cx="2743200" cy="777240"/>
          </a:xfrm>
          <a:prstGeom prst="rect">
            <a:avLst/>
          </a:prstGeom>
          <a:solidFill>
            <a:srgbClr val="142942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560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2560320"/>
            <a:ext cx="2743200" cy="777240"/>
          </a:xfrm>
          <a:prstGeom prst="rect">
            <a:avLst/>
          </a:prstGeom>
          <a:solidFill>
            <a:srgbClr val="142942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560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check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78240" y="2560320"/>
            <a:ext cx="2834640" cy="777240"/>
          </a:xfrm>
          <a:prstGeom prst="rect">
            <a:avLst/>
          </a:prstGeom>
          <a:solidFill>
            <a:srgbClr val="142942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2560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... check?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743200" cy="777240"/>
          </a:xfrm>
          <a:prstGeom prst="rect">
            <a:avLst/>
          </a:prstGeom>
          <a:solidFill>
            <a:srgbClr val="16324F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00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3200400"/>
            <a:ext cx="2743200" cy="777240"/>
          </a:xfrm>
          <a:prstGeom prst="rect">
            <a:avLst/>
          </a:prstGeom>
          <a:solidFill>
            <a:srgbClr val="16324F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00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35040" y="3200400"/>
            <a:ext cx="2743200" cy="777240"/>
          </a:xfrm>
          <a:prstGeom prst="rect">
            <a:avLst/>
          </a:prstGeom>
          <a:solidFill>
            <a:srgbClr val="16324F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200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check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778240" y="3200400"/>
            <a:ext cx="2834640" cy="777240"/>
          </a:xfrm>
          <a:prstGeom prst="rect">
            <a:avLst/>
          </a:prstGeom>
          <a:solidFill>
            <a:srgbClr val="16324F"/>
          </a:solidFill>
          <a:ln w="9525">
            <a:solidFill>
              <a:srgbClr val="1E45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32004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... check?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notes for -s / -es (3rd person)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10235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→ watches   ·   study → studies   ·   play → plays   ·   go → goes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Try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each sentence with the correct form of the verb.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My father always ___________ (check) his email at work.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We ___________ (not / use) our phones during class.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1605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___________ your sister ___________ (play) online games?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Noha usually ___________ (search) for information online.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01168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My father always checks his email at work.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01752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We don't use our phones during class.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40233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Does your sister play online games?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502920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Noha usually searches for information online.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each sentence with the correct form of the verb.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1284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My mom always ___________ (text) me after school.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7614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My mom always texts me after school.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8444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My classmates often ___________ (watch) videos to learn new words.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My classmates often watch videos to learn new words.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95604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 ___________ (never / share) my password with anyone.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55046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never share my password with anyone.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Your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Rewrite using the word in brackets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 check my messages before sleeping.        (usually)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My teacher shows us videos on the smartboard.   (often)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They play games on the computer.        (never)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 uses his tablet at the library.        (sometimes)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Write your own sentences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one true sentence about your own daily technology habit.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one question to ask a partner about their digital habits.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Mistake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7088"/>
            <a:ext cx="457200" cy="457200"/>
          </a:xfrm>
          <a:prstGeom prst="ellipse">
            <a:avLst/>
          </a:prstGeom>
          <a:solidFill>
            <a:srgbClr val="FFC16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282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She check her phone every morning.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11226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She checks her phone every morning.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98064"/>
            <a:ext cx="457200" cy="457200"/>
          </a:xfrm>
          <a:prstGeom prst="ellipse">
            <a:avLst/>
          </a:prstGeom>
          <a:solidFill>
            <a:srgbClr val="FFC16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791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 he use a laptop for homework?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Does he use a laptop for homework?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FFC16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6301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 doesn't play games at school.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142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don't play games at school.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44568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00016"/>
            <a:ext cx="457200" cy="457200"/>
          </a:xfrm>
          <a:prstGeom prst="ellipse">
            <a:avLst/>
          </a:prstGeom>
          <a:solidFill>
            <a:srgbClr val="FFC16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5811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 usually is online after school.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9651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 are usually online after school.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495544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rgbClr val="FFC16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50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5321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Nadia don't do her homework on paper anymore.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9161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Nadia doesn't do her homework on paper anymore.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Little Further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Challenge (3 minutes)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FOUR sentences about your family's technology habits — use a different adverb of frequency in each one (always, usually, often, sometimes, never).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16324F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partner three "Do/Does" questions about their digital routine, then report back to the class using the third-person form.
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"Ahmed usually plays games after school, but he never uses his phone during meals."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35D0C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simple = habits, routines, and general facts.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365760" cy="365760"/>
          </a:xfrm>
          <a:prstGeom prst="ellipse">
            <a:avLst/>
          </a:prstGeom>
          <a:solidFill>
            <a:srgbClr val="8CE9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-s / -es for he, she, it in positive sentences.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99816"/>
            <a:ext cx="365760" cy="365760"/>
          </a:xfrm>
          <a:prstGeom prst="ellipse">
            <a:avLst/>
          </a:prstGeom>
          <a:solidFill>
            <a:srgbClr val="FFC16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9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05409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don't / doesn't + base verb.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35D0C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62102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Do / Does + subject + base verb ...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365760" cy="365760"/>
          </a:xfrm>
          <a:prstGeom prst="ellipse">
            <a:avLst/>
          </a:prstGeom>
          <a:solidFill>
            <a:srgbClr val="8CE9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18795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 of frequency go before the main verb (after "to be").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12B47"/>
          </a:solidFill>
          <a:ln w="12700">
            <a:solidFill>
              <a:srgbClr val="1E4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4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E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five original games for Unit 1, built around this grammar point and the digital-life vocabulary.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Life in a Digital World  —  Grammar: Present Simple + Adverbs of Frequency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2026-08-04T09:29:31Z</dcterms:created>
  <dcterms:modified xsi:type="dcterms:W3CDTF">2026-08-04T09:29:31Z</dcterms:modified>
</cp:coreProperties>
</file>